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8" r:id="rId4"/>
    <p:sldId id="258" r:id="rId5"/>
    <p:sldId id="271" r:id="rId6"/>
    <p:sldId id="269" r:id="rId7"/>
    <p:sldId id="272" r:id="rId8"/>
    <p:sldId id="270" r:id="rId9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1BC1E05-3EB7-46FC-BCCB-32EB5B5993E7}">
          <p14:sldIdLst>
            <p14:sldId id="256"/>
            <p14:sldId id="257"/>
          </p14:sldIdLst>
        </p14:section>
        <p14:section name="Untitled Section" id="{33474B21-7BB9-4559-A129-5B5A7000465D}">
          <p14:sldIdLst>
            <p14:sldId id="268"/>
            <p14:sldId id="258"/>
            <p14:sldId id="271"/>
            <p14:sldId id="269"/>
            <p14:sldId id="272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88015" autoAdjust="0"/>
  </p:normalViewPr>
  <p:slideViewPr>
    <p:cSldViewPr snapToGrid="0">
      <p:cViewPr varScale="1">
        <p:scale>
          <a:sx n="87" d="100"/>
          <a:sy n="87" d="100"/>
        </p:scale>
        <p:origin x="118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loszek, Tomasz" userId="6ea16ab9-4e2f-48d9-9186-a1459100c20a" providerId="ADAL" clId="{3D70DCDA-FA8F-4E48-899B-8B5A0F788916}"/>
    <pc:docChg chg="modSld">
      <pc:chgData name="Waloszek, Tomasz" userId="6ea16ab9-4e2f-48d9-9186-a1459100c20a" providerId="ADAL" clId="{3D70DCDA-FA8F-4E48-899B-8B5A0F788916}" dt="2025-05-07T08:58:13.642" v="9" actId="20577"/>
      <pc:docMkLst>
        <pc:docMk/>
      </pc:docMkLst>
      <pc:sldChg chg="modSp mod">
        <pc:chgData name="Waloszek, Tomasz" userId="6ea16ab9-4e2f-48d9-9186-a1459100c20a" providerId="ADAL" clId="{3D70DCDA-FA8F-4E48-899B-8B5A0F788916}" dt="2025-05-07T08:58:13.642" v="9" actId="20577"/>
        <pc:sldMkLst>
          <pc:docMk/>
          <pc:sldMk cId="903996648" sldId="257"/>
        </pc:sldMkLst>
        <pc:spChg chg="mod">
          <ac:chgData name="Waloszek, Tomasz" userId="6ea16ab9-4e2f-48d9-9186-a1459100c20a" providerId="ADAL" clId="{3D70DCDA-FA8F-4E48-899B-8B5A0F788916}" dt="2025-05-07T08:58:13.642" v="9" actId="20577"/>
          <ac:spMkLst>
            <pc:docMk/>
            <pc:sldMk cId="903996648" sldId="257"/>
            <ac:spMk id="5" creationId="{83634487-C7DB-8F0D-4D26-F4070A68290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0858F5-F2D0-4400-8AEF-C98E6C65D4B2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7E592B-350E-469F-902B-B3010E7FA2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252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pl-PL" dirty="0"/>
              <a:t>Optymalizacja zapytań w obu przypadkach znacząco wpływa na: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dirty="0"/>
              <a:t>czas trenowania modeli,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dirty="0"/>
              <a:t>jakość danych wejściowych,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dirty="0"/>
              <a:t>koszt zasobów obliczeniowych.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7E592B-350E-469F-902B-B3010E7FA25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709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F9F5A46-7F8C-0F8E-06CB-6612C761C2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61562"/>
            <a:ext cx="9144000" cy="1734879"/>
          </a:xfrm>
        </p:spPr>
        <p:txBody>
          <a:bodyPr anchor="t"/>
          <a:lstStyle>
            <a:lvl1pPr algn="l">
              <a:defRPr sz="6000">
                <a:solidFill>
                  <a:schemeClr val="bg1">
                    <a:lumMod val="95000"/>
                  </a:schemeClr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pl-PL" dirty="0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08020E0A-C4B4-A20B-BDC8-223B1F673F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46163"/>
            <a:ext cx="9144000" cy="615399"/>
          </a:xfrm>
        </p:spPr>
        <p:txBody>
          <a:bodyPr anchor="b">
            <a:noAutofit/>
          </a:bodyPr>
          <a:lstStyle>
            <a:lvl1pPr marL="0" indent="0" algn="l">
              <a:buNone/>
              <a:defRPr sz="2600">
                <a:solidFill>
                  <a:schemeClr val="accent2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l-PL" dirty="0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19ABA5DC-B158-6A58-569A-9A254B857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F1053-328C-4ED9-82E3-31697017AFB4}" type="datetimeFigureOut">
              <a:rPr lang="pl-PL" smtClean="0"/>
              <a:t>7.05.2025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B387801F-7495-C5D4-9208-F1B22B7D6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E807230-832A-7776-1E40-BC58B743D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0B11-36ED-44BE-BE11-9D3559BAA3E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50271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le slide altern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7D417A5-4E30-F0BE-0D9F-223AE33D2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A1BC9B3B-7ACB-CA18-C7C8-9EDE8435A1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8CC486CB-C05E-5646-8BA9-C92B1658F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F1053-328C-4ED9-82E3-31697017AFB4}" type="datetimeFigureOut">
              <a:rPr lang="pl-PL" smtClean="0"/>
              <a:t>7.05.2025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C6D4F55-B1B1-020C-975A-311F55AD5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C60CFCEF-A27B-57F4-9E56-2D5627853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0B11-36ED-44BE-BE11-9D3559BAA3E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3241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1st sty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7FE77DA-7B6D-1D87-1903-99BE76BD6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C0486CF-E708-F43F-323C-42756A6297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BC2D309F-0BBA-8356-3656-B54D248E3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F1053-328C-4ED9-82E3-31697017AFB4}" type="datetimeFigureOut">
              <a:rPr lang="pl-PL" smtClean="0"/>
              <a:t>7.05.2025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BA391A89-68B4-F05C-91BD-AAEA0FAB9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656045A-FF87-CD09-19E9-6813F22BD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0B11-36ED-44BE-BE11-9D3559BAA3E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932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nd sty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7FE77DA-7B6D-1D87-1903-99BE76BD6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C0486CF-E708-F43F-323C-42756A6297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BC2D309F-0BBA-8356-3656-B54D248E3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F1053-328C-4ED9-82E3-31697017AFB4}" type="datetimeFigureOut">
              <a:rPr lang="pl-PL" smtClean="0"/>
              <a:t>7.05.2025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BA391A89-68B4-F05C-91BD-AAEA0FAB9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656045A-FF87-CD09-19E9-6813F22BD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0B11-36ED-44BE-BE11-9D3559BAA3E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80067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rd sty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7FE77DA-7B6D-1D87-1903-99BE76BD6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C0486CF-E708-F43F-323C-42756A6297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BC2D309F-0BBA-8356-3656-B54D248E3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F1053-328C-4ED9-82E3-31697017AFB4}" type="datetimeFigureOut">
              <a:rPr lang="pl-PL" smtClean="0"/>
              <a:t>7.05.2025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BA391A89-68B4-F05C-91BD-AAEA0FAB9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656045A-FF87-CD09-19E9-6813F22BD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0B11-36ED-44BE-BE11-9D3559BAA3E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37427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4th sty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7FE77DA-7B6D-1D87-1903-99BE76BD6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C0486CF-E708-F43F-323C-42756A6297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BC2D309F-0BBA-8356-3656-B54D248E3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F1053-328C-4ED9-82E3-31697017AFB4}" type="datetimeFigureOut">
              <a:rPr lang="pl-PL" smtClean="0"/>
              <a:t>7.05.2025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BA391A89-68B4-F05C-91BD-AAEA0FAB9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656045A-FF87-CD09-19E9-6813F22BD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0B11-36ED-44BE-BE11-9D3559BAA3E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42063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elem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5CB3A64-B6B3-9B94-6E35-859AA4899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A698181-E637-AB6E-477C-C20E5E78E1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CA19183A-8818-64DB-489F-954B9E3E50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E1DAEC35-A98E-29E3-7D54-4F1913CCC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F1053-328C-4ED9-82E3-31697017AFB4}" type="datetimeFigureOut">
              <a:rPr lang="pl-PL" smtClean="0"/>
              <a:t>7.05.2025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6B985EB0-D628-922A-9BEF-650C050A6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2A6C3D4A-88F3-7648-B397-1F6C6E84B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0B11-36ED-44BE-BE11-9D3559BAA3E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764960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elements 2nd sty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5CB3A64-B6B3-9B94-6E35-859AA4899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A698181-E637-AB6E-477C-C20E5E78E1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CA19183A-8818-64DB-489F-954B9E3E50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E1DAEC35-A98E-29E3-7D54-4F1913CCC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F1053-328C-4ED9-82E3-31697017AFB4}" type="datetimeFigureOut">
              <a:rPr lang="pl-PL" smtClean="0"/>
              <a:t>7.05.2025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6B985EB0-D628-922A-9BEF-650C050A6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2A6C3D4A-88F3-7648-B397-1F6C6E84B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0B11-36ED-44BE-BE11-9D3559BAA3E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43096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m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E29F5F8D-4E8E-1692-697C-F4491AE6E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F1053-328C-4ED9-82E3-31697017AFB4}" type="datetimeFigureOut">
              <a:rPr lang="pl-PL" smtClean="0"/>
              <a:t>7.05.2025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B4BA090B-20C2-6D7D-0C82-0F1DD0C51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E8B70D5D-8EE5-056F-61A0-B6B5DEFF9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0B11-36ED-44BE-BE11-9D3559BAA3E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98884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los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E29F5F8D-4E8E-1692-697C-F4491AE6E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F1053-328C-4ED9-82E3-31697017AFB4}" type="datetimeFigureOut">
              <a:rPr lang="pl-PL" smtClean="0"/>
              <a:t>7.05.2025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B4BA090B-20C2-6D7D-0C82-0F1DD0C51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E8B70D5D-8EE5-056F-61A0-B6B5DEFF9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0B11-36ED-44BE-BE11-9D3559BAA3E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5724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ponsor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E29F5F8D-4E8E-1692-697C-F4491AE6E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F1053-328C-4ED9-82E3-31697017AFB4}" type="datetimeFigureOut">
              <a:rPr lang="pl-PL" smtClean="0"/>
              <a:t>7.05.2025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B4BA090B-20C2-6D7D-0C82-0F1DD0C51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E8B70D5D-8EE5-056F-61A0-B6B5DEFF9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0B11-36ED-44BE-BE11-9D3559BAA3E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336402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62BD0-3E8F-915C-23F3-4FFF40C28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E57ABD-964D-D1CB-61C2-086DBC52B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18A68-7E6F-4792-81EA-3F8FCF2AD9D6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E9639E-E6C4-F10B-274F-ECD5D6F9B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 dirty="0"/>
              <a:t>SQLDay 2025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C8FADB-9722-FDB8-B825-864C61B9F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103C2-89A1-4FCA-87EF-DAE6FA725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918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F5A1F226-5D81-4131-CD55-BE315B6A1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21492"/>
            <a:ext cx="10515600" cy="669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 dirty="0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27A1B91E-6EFE-9BF3-1320-2900C77110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 dirty="0"/>
              <a:t>Kliknij, aby edytować style wzorca tekstu</a:t>
            </a:r>
          </a:p>
          <a:p>
            <a:pPr lvl="1"/>
            <a:r>
              <a:rPr lang="pl-PL" dirty="0"/>
              <a:t>Drugi poziom</a:t>
            </a:r>
          </a:p>
          <a:p>
            <a:pPr lvl="2"/>
            <a:r>
              <a:rPr lang="pl-PL" dirty="0"/>
              <a:t>Trzeci poziom</a:t>
            </a:r>
          </a:p>
          <a:p>
            <a:pPr lvl="3"/>
            <a:r>
              <a:rPr lang="pl-PL" dirty="0"/>
              <a:t>Czwarty poziom</a:t>
            </a:r>
          </a:p>
          <a:p>
            <a:pPr lvl="4"/>
            <a:r>
              <a:rPr lang="pl-PL" dirty="0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75FEC6F-BFCD-0D51-3254-125F6A76F6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6F1053-328C-4ED9-82E3-31697017AFB4}" type="datetimeFigureOut">
              <a:rPr lang="pl-PL" smtClean="0"/>
              <a:t>7.05.2025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EC4E1DB5-E006-7FEC-AA54-9A8DEFC919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9397BF6F-4AD0-3A6B-AEB8-DDA7278E94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980B11-36ED-44BE-BE11-9D3559BAA3E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63863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59" r:id="rId4"/>
    <p:sldLayoutId id="2147483660" r:id="rId5"/>
    <p:sldLayoutId id="2147483661" r:id="rId6"/>
    <p:sldLayoutId id="2147483652" r:id="rId7"/>
    <p:sldLayoutId id="2147483662" r:id="rId8"/>
    <p:sldLayoutId id="2147483655" r:id="rId9"/>
    <p:sldLayoutId id="2147483663" r:id="rId10"/>
    <p:sldLayoutId id="2147483658" r:id="rId11"/>
    <p:sldLayoutId id="2147483664" r:id="rId12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Open Sans ExtraBold" panose="020B0906030804020204" pitchFamily="34" charset="0"/>
          <a:ea typeface="Open Sans ExtraBold" panose="020B0906030804020204" pitchFamily="34" charset="0"/>
          <a:cs typeface="Open Sans ExtraBold" panose="020B0906030804020204" pitchFamily="34" charset="0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Open Sans ExtraBold" panose="020B0906030804020204" pitchFamily="34" charset="0"/>
          <a:ea typeface="Open Sans ExtraBold" panose="020B0906030804020204" pitchFamily="34" charset="0"/>
          <a:cs typeface="Open Sans ExtraBold" panose="020B0906030804020204" pitchFamily="34" charset="0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Open Sans ExtraBold" panose="020B0906030804020204" pitchFamily="34" charset="0"/>
          <a:ea typeface="Open Sans ExtraBold" panose="020B0906030804020204" pitchFamily="34" charset="0"/>
          <a:cs typeface="Open Sans ExtraBold" panose="020B0906030804020204" pitchFamily="34" charset="0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Open Sans ExtraBold" panose="020B0906030804020204" pitchFamily="34" charset="0"/>
          <a:ea typeface="Open Sans ExtraBold" panose="020B0906030804020204" pitchFamily="34" charset="0"/>
          <a:cs typeface="Open Sans ExtraBold" panose="020B0906030804020204" pitchFamily="34" charset="0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Open Sans ExtraBold" panose="020B0906030804020204" pitchFamily="34" charset="0"/>
          <a:ea typeface="Open Sans ExtraBold" panose="020B0906030804020204" pitchFamily="34" charset="0"/>
          <a:cs typeface="Open Sans ExtraBold" panose="020B0906030804020204" pitchFamily="34" charset="0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Open Sans ExtraBold" panose="020B0906030804020204" pitchFamily="34" charset="0"/>
          <a:ea typeface="Open Sans ExtraBold" panose="020B0906030804020204" pitchFamily="34" charset="0"/>
          <a:cs typeface="Open Sans ExtraBold" panose="020B0906030804020204" pitchFamily="34" charset="0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899A2-C533-977E-14CE-B846DB866A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pl-PL" b="1" i="0" dirty="0">
                <a:solidFill>
                  <a:schemeClr val="bg1"/>
                </a:solidFill>
                <a:effectLst/>
                <a:latin typeface="Graphik Meetup"/>
              </a:rPr>
              <a:t>Optymalizacja zapytań SQL w projektach Data Science</a:t>
            </a:r>
            <a:endParaRPr lang="pl-PL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6DAD93-7B30-8291-488C-302408A4E1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858204"/>
            <a:ext cx="9144000" cy="615399"/>
          </a:xfrm>
        </p:spPr>
        <p:txBody>
          <a:bodyPr/>
          <a:lstStyle/>
          <a:p>
            <a:r>
              <a:rPr lang="en-US" dirty="0"/>
              <a:t>Tomasz Waloszek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48732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CD8426E-BC18-0C7C-20F8-A4BEE1FF5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Agenda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3634487-C7DB-8F0D-4D26-F4070A6829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 </a:t>
            </a:r>
            <a:r>
              <a:rPr lang="en-US" dirty="0" err="1"/>
              <a:t>mnie</a:t>
            </a:r>
            <a:endParaRPr lang="en-US" dirty="0"/>
          </a:p>
          <a:p>
            <a:r>
              <a:rPr lang="en-US" dirty="0" err="1"/>
              <a:t>Wprowadzenie</a:t>
            </a:r>
            <a:endParaRPr lang="en-US" dirty="0"/>
          </a:p>
          <a:p>
            <a:r>
              <a:rPr lang="en-US"/>
              <a:t>Demo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3996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ole tekstowe 7"/>
          <p:cNvSpPr txBox="1"/>
          <p:nvPr/>
        </p:nvSpPr>
        <p:spPr>
          <a:xfrm>
            <a:off x="4059836" y="1602704"/>
            <a:ext cx="6390450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859536" fontAlgn="base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92" kern="1200" dirty="0">
                <a:solidFill>
                  <a:schemeClr val="bg1"/>
                </a:solidFill>
                <a:latin typeface="Oswald" panose="00000500000000000000" pitchFamily="2" charset="0"/>
              </a:rPr>
              <a:t> </a:t>
            </a:r>
            <a:r>
              <a:rPr lang="en-US" kern="1200" dirty="0">
                <a:solidFill>
                  <a:schemeClr val="bg1"/>
                </a:solidFill>
                <a:latin typeface="Oswald" panose="00000500000000000000" pitchFamily="2" charset="0"/>
              </a:rPr>
              <a:t>Data Architect w </a:t>
            </a:r>
            <a:r>
              <a:rPr lang="en-US" kern="1200" dirty="0" err="1">
                <a:solidFill>
                  <a:schemeClr val="bg1"/>
                </a:solidFill>
                <a:latin typeface="Oswald" panose="00000500000000000000" pitchFamily="2" charset="0"/>
              </a:rPr>
              <a:t>SoftwareOne</a:t>
            </a:r>
            <a:endParaRPr lang="en-US" kern="1200" dirty="0">
              <a:solidFill>
                <a:schemeClr val="bg1"/>
              </a:solidFill>
              <a:latin typeface="Oswald" panose="00000500000000000000" pitchFamily="2" charset="0"/>
            </a:endParaRPr>
          </a:p>
          <a:p>
            <a:pPr defTabSz="859536" fontAlgn="base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kern="1200" dirty="0">
                <a:solidFill>
                  <a:schemeClr val="bg1"/>
                </a:solidFill>
                <a:latin typeface="Oswald" panose="00000500000000000000" pitchFamily="2" charset="0"/>
              </a:rPr>
              <a:t> </a:t>
            </a:r>
            <a:r>
              <a:rPr lang="en-US" kern="1200" dirty="0" err="1">
                <a:solidFill>
                  <a:schemeClr val="bg1"/>
                </a:solidFill>
                <a:latin typeface="Oswald" panose="00000500000000000000" pitchFamily="2" charset="0"/>
              </a:rPr>
              <a:t>Lider</a:t>
            </a:r>
            <a:r>
              <a:rPr lang="en-US" kern="1200" dirty="0">
                <a:solidFill>
                  <a:schemeClr val="bg1"/>
                </a:solidFill>
                <a:latin typeface="Oswald" panose="00000500000000000000" pitchFamily="2" charset="0"/>
              </a:rPr>
              <a:t>  </a:t>
            </a:r>
            <a:r>
              <a:rPr lang="en-US" b="1" kern="1200" dirty="0">
                <a:solidFill>
                  <a:schemeClr val="bg1"/>
                </a:solidFill>
                <a:latin typeface="Oswald" panose="00000500000000000000" pitchFamily="2" charset="0"/>
              </a:rPr>
              <a:t>D</a:t>
            </a:r>
            <a:r>
              <a:rPr lang="pl-PL" b="1" kern="1200" dirty="0" err="1">
                <a:solidFill>
                  <a:schemeClr val="bg1"/>
                </a:solidFill>
                <a:latin typeface="Oswald" panose="00000500000000000000" pitchFamily="2" charset="0"/>
              </a:rPr>
              <a:t>ata</a:t>
            </a:r>
            <a:r>
              <a:rPr lang="pl-PL" b="1" kern="1200" dirty="0">
                <a:solidFill>
                  <a:schemeClr val="bg1"/>
                </a:solidFill>
                <a:latin typeface="Oswald" panose="00000500000000000000" pitchFamily="2" charset="0"/>
              </a:rPr>
              <a:t> </a:t>
            </a:r>
            <a:r>
              <a:rPr lang="pl-PL" b="1" kern="1200" dirty="0" err="1">
                <a:solidFill>
                  <a:schemeClr val="bg1"/>
                </a:solidFill>
                <a:latin typeface="Oswald" panose="00000500000000000000" pitchFamily="2" charset="0"/>
              </a:rPr>
              <a:t>Community</a:t>
            </a:r>
            <a:r>
              <a:rPr lang="en-US" b="1" kern="1200" dirty="0">
                <a:solidFill>
                  <a:schemeClr val="bg1"/>
                </a:solidFill>
                <a:latin typeface="Oswald" panose="00000500000000000000" pitchFamily="2" charset="0"/>
              </a:rPr>
              <a:t> Bydgoszcz &amp; </a:t>
            </a:r>
            <a:r>
              <a:rPr lang="en-US" b="1" kern="1200" dirty="0" err="1">
                <a:solidFill>
                  <a:schemeClr val="bg1"/>
                </a:solidFill>
                <a:latin typeface="Oswald" panose="00000500000000000000" pitchFamily="2" charset="0"/>
              </a:rPr>
              <a:t>Toruń</a:t>
            </a:r>
            <a:r>
              <a:rPr lang="pl-PL" kern="1200" dirty="0">
                <a:solidFill>
                  <a:schemeClr val="bg1"/>
                </a:solidFill>
                <a:latin typeface="Oswald" panose="00000500000000000000" pitchFamily="2" charset="0"/>
              </a:rPr>
              <a:t>​</a:t>
            </a:r>
          </a:p>
          <a:p>
            <a:pPr defTabSz="859536" fontAlgn="base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l-PL" kern="1200" dirty="0">
                <a:solidFill>
                  <a:schemeClr val="bg1"/>
                </a:solidFill>
                <a:latin typeface="Oswald" panose="00000500000000000000" pitchFamily="2" charset="0"/>
              </a:rPr>
              <a:t> </a:t>
            </a:r>
            <a:r>
              <a:rPr lang="pl-PL" kern="1200" dirty="0" err="1">
                <a:solidFill>
                  <a:schemeClr val="bg1"/>
                </a:solidFill>
                <a:latin typeface="Oswald" panose="00000500000000000000" pitchFamily="2" charset="0"/>
              </a:rPr>
              <a:t>Bussiness</a:t>
            </a:r>
            <a:r>
              <a:rPr lang="pl-PL" kern="1200" dirty="0">
                <a:solidFill>
                  <a:schemeClr val="bg1"/>
                </a:solidFill>
                <a:latin typeface="Oswald" panose="00000500000000000000" pitchFamily="2" charset="0"/>
              </a:rPr>
              <a:t> </a:t>
            </a:r>
            <a:r>
              <a:rPr lang="pl-PL" kern="1200" dirty="0" err="1">
                <a:solidFill>
                  <a:schemeClr val="bg1"/>
                </a:solidFill>
                <a:latin typeface="Oswald" panose="00000500000000000000" pitchFamily="2" charset="0"/>
              </a:rPr>
              <a:t>Inteligence</a:t>
            </a:r>
            <a:r>
              <a:rPr lang="pl-PL" kern="1200" dirty="0">
                <a:solidFill>
                  <a:schemeClr val="bg1"/>
                </a:solidFill>
                <a:latin typeface="Oswald" panose="00000500000000000000" pitchFamily="2" charset="0"/>
              </a:rPr>
              <a:t> Consultant </a:t>
            </a:r>
            <a:r>
              <a:rPr lang="en-US" kern="1200" dirty="0">
                <a:solidFill>
                  <a:schemeClr val="bg1"/>
                </a:solidFill>
                <a:latin typeface="Oswald" panose="00000500000000000000" pitchFamily="2" charset="0"/>
              </a:rPr>
              <a:t>​</a:t>
            </a:r>
          </a:p>
          <a:p>
            <a:pPr defTabSz="859536" fontAlgn="base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kern="1200" dirty="0">
              <a:solidFill>
                <a:schemeClr val="bg1"/>
              </a:solidFill>
              <a:latin typeface="Oswald" panose="00000500000000000000" pitchFamily="2" charset="0"/>
            </a:endParaRPr>
          </a:p>
          <a:p>
            <a:pPr defTabSz="859536" fontAlgn="base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kern="1200" dirty="0">
                <a:solidFill>
                  <a:schemeClr val="bg1"/>
                </a:solidFill>
                <a:latin typeface="Oswald" panose="00000500000000000000" pitchFamily="2" charset="0"/>
              </a:rPr>
              <a:t> </a:t>
            </a:r>
            <a:r>
              <a:rPr lang="en-US" kern="1200" dirty="0" err="1">
                <a:solidFill>
                  <a:schemeClr val="bg1"/>
                </a:solidFill>
                <a:latin typeface="Oswald" panose="00000500000000000000" pitchFamily="2" charset="0"/>
              </a:rPr>
              <a:t>Zainteresowania</a:t>
            </a:r>
            <a:r>
              <a:rPr lang="en-GB" kern="1200" dirty="0">
                <a:solidFill>
                  <a:schemeClr val="bg1"/>
                </a:solidFill>
                <a:latin typeface="Oswald" panose="00000500000000000000" pitchFamily="2" charset="0"/>
              </a:rPr>
              <a:t>:</a:t>
            </a:r>
            <a:r>
              <a:rPr lang="pl-PL" kern="1200" dirty="0">
                <a:solidFill>
                  <a:schemeClr val="bg1"/>
                </a:solidFill>
                <a:latin typeface="Oswald" panose="00000500000000000000" pitchFamily="2" charset="0"/>
              </a:rPr>
              <a:t>​</a:t>
            </a:r>
          </a:p>
          <a:p>
            <a:pPr marL="429768" lvl="1" defTabSz="859536" fontAlgn="base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kern="1200" dirty="0">
                <a:solidFill>
                  <a:schemeClr val="bg1"/>
                </a:solidFill>
                <a:latin typeface="Oswald" panose="00000500000000000000" pitchFamily="2" charset="0"/>
              </a:rPr>
              <a:t> Business Intelligence/Data Warehouse design and implementation</a:t>
            </a:r>
            <a:r>
              <a:rPr lang="pl-PL" kern="1200" dirty="0">
                <a:solidFill>
                  <a:schemeClr val="bg1"/>
                </a:solidFill>
                <a:latin typeface="Oswald" panose="00000500000000000000" pitchFamily="2" charset="0"/>
              </a:rPr>
              <a:t>​</a:t>
            </a:r>
          </a:p>
          <a:p>
            <a:pPr marL="429768" lvl="1" defTabSz="859536" fontAlgn="base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kern="1200" dirty="0">
                <a:solidFill>
                  <a:schemeClr val="bg1"/>
                </a:solidFill>
                <a:latin typeface="Oswald" panose="00000500000000000000" pitchFamily="2" charset="0"/>
              </a:rPr>
              <a:t> </a:t>
            </a:r>
            <a:r>
              <a:rPr lang="pl-PL" kern="1200" dirty="0">
                <a:solidFill>
                  <a:schemeClr val="bg1"/>
                </a:solidFill>
                <a:latin typeface="Oswald" panose="00000500000000000000" pitchFamily="2" charset="0"/>
              </a:rPr>
              <a:t>SQL Server development, </a:t>
            </a:r>
            <a:r>
              <a:rPr lang="pl-PL" kern="1200" dirty="0" err="1">
                <a:solidFill>
                  <a:schemeClr val="bg1"/>
                </a:solidFill>
                <a:latin typeface="Oswald" panose="00000500000000000000" pitchFamily="2" charset="0"/>
              </a:rPr>
              <a:t>troubleshooting</a:t>
            </a:r>
            <a:endParaRPr lang="pl-PL" b="0" i="0" dirty="0">
              <a:solidFill>
                <a:schemeClr val="bg1"/>
              </a:solidFill>
              <a:effectLst/>
              <a:latin typeface="Oswald" panose="00000500000000000000" pitchFamily="2" charset="0"/>
            </a:endParaRPr>
          </a:p>
        </p:txBody>
      </p:sp>
      <p:sp>
        <p:nvSpPr>
          <p:cNvPr id="9" name="pole tekstowe 8"/>
          <p:cNvSpPr txBox="1"/>
          <p:nvPr/>
        </p:nvSpPr>
        <p:spPr>
          <a:xfrm>
            <a:off x="6484081" y="4376212"/>
            <a:ext cx="5445526" cy="1744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859536">
              <a:lnSpc>
                <a:spcPct val="80000"/>
              </a:lnSpc>
              <a:spcAft>
                <a:spcPts val="600"/>
              </a:spcAft>
            </a:pPr>
            <a:r>
              <a:rPr lang="pl-PL" sz="1692" kern="1200" dirty="0">
                <a:solidFill>
                  <a:srgbClr val="00569F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E-MAIL</a:t>
            </a:r>
          </a:p>
          <a:p>
            <a:pPr defTabSz="859536">
              <a:lnSpc>
                <a:spcPct val="80000"/>
              </a:lnSpc>
              <a:spcAft>
                <a:spcPts val="600"/>
              </a:spcAft>
            </a:pPr>
            <a:r>
              <a:rPr lang="en-US" sz="1692" kern="1200" dirty="0">
                <a:solidFill>
                  <a:schemeClr val="bg1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Tomasz.Waloszek@DataCommunity.pl</a:t>
            </a:r>
            <a:endParaRPr lang="pl-PL" sz="1692" kern="1200" dirty="0">
              <a:solidFill>
                <a:schemeClr val="bg1"/>
              </a:solidFill>
              <a:latin typeface="Open Sans Extrabold" panose="020B0906030804020204" pitchFamily="34" charset="0"/>
              <a:ea typeface="Open Sans Extrabold" panose="020B0906030804020204" pitchFamily="34" charset="0"/>
              <a:cs typeface="Open Sans Extrabold" panose="020B0906030804020204" pitchFamily="34" charset="0"/>
            </a:endParaRPr>
          </a:p>
          <a:p>
            <a:pPr defTabSz="859536">
              <a:lnSpc>
                <a:spcPct val="80000"/>
              </a:lnSpc>
              <a:spcAft>
                <a:spcPts val="600"/>
              </a:spcAft>
            </a:pPr>
            <a:endParaRPr lang="pl-PL" sz="1692" kern="1200" dirty="0">
              <a:solidFill>
                <a:srgbClr val="00569F"/>
              </a:solidFill>
              <a:latin typeface="Open Sans Extrabold" panose="020B0906030804020204" pitchFamily="34" charset="0"/>
              <a:ea typeface="Open Sans Extrabold" panose="020B0906030804020204" pitchFamily="34" charset="0"/>
              <a:cs typeface="Open Sans Extrabold" panose="020B0906030804020204" pitchFamily="34" charset="0"/>
            </a:endParaRPr>
          </a:p>
          <a:p>
            <a:pPr defTabSz="859536">
              <a:lnSpc>
                <a:spcPct val="80000"/>
              </a:lnSpc>
              <a:spcAft>
                <a:spcPts val="600"/>
              </a:spcAft>
            </a:pPr>
            <a:r>
              <a:rPr lang="pl-PL" sz="1692" kern="1200" dirty="0">
                <a:solidFill>
                  <a:srgbClr val="00569F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LINKEDIN</a:t>
            </a:r>
          </a:p>
          <a:p>
            <a:pPr defTabSz="859536">
              <a:lnSpc>
                <a:spcPct val="80000"/>
              </a:lnSpc>
              <a:spcAft>
                <a:spcPts val="600"/>
              </a:spcAft>
            </a:pPr>
            <a:r>
              <a:rPr lang="pl-PL" sz="1692" kern="1200" dirty="0">
                <a:solidFill>
                  <a:schemeClr val="bg1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https://www.linkedin.com/in/tomaszwaloszek</a:t>
            </a:r>
          </a:p>
          <a:p>
            <a:pPr>
              <a:lnSpc>
                <a:spcPct val="80000"/>
              </a:lnSpc>
              <a:spcAft>
                <a:spcPts val="600"/>
              </a:spcAft>
            </a:pPr>
            <a:endParaRPr lang="pl-PL" dirty="0">
              <a:solidFill>
                <a:srgbClr val="008FDD"/>
              </a:solidFill>
              <a:latin typeface="Open Sans Extrabold" panose="020B0906030804020204" pitchFamily="34" charset="0"/>
              <a:ea typeface="Open Sans Extrabold" panose="020B0906030804020204" pitchFamily="34" charset="0"/>
              <a:cs typeface="Open Sans Extrabold" panose="020B0906030804020204" pitchFamily="34" charset="0"/>
            </a:endParaRPr>
          </a:p>
        </p:txBody>
      </p:sp>
      <p:pic>
        <p:nvPicPr>
          <p:cNvPr id="3" name="Picture 2" descr="A person with a beard&#10;&#10;Description automatically generated">
            <a:extLst>
              <a:ext uri="{FF2B5EF4-FFF2-40B4-BE49-F238E27FC236}">
                <a16:creationId xmlns:a16="http://schemas.microsoft.com/office/drawing/2014/main" id="{C899B5EC-8FFF-7A62-6465-FAB2F4ED2A6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814" y="1767336"/>
            <a:ext cx="2374423" cy="2374423"/>
          </a:xfrm>
          <a:prstGeom prst="rect">
            <a:avLst/>
          </a:prstGeom>
        </p:spPr>
      </p:pic>
      <p:pic>
        <p:nvPicPr>
          <p:cNvPr id="1027" name="Picture 3" descr="Advance your data + AI skills with Databricks Academy - Databricks">
            <a:extLst>
              <a:ext uri="{FF2B5EF4-FFF2-40B4-BE49-F238E27FC236}">
                <a16:creationId xmlns:a16="http://schemas.microsoft.com/office/drawing/2014/main" id="{9DF5D324-58F8-072A-06CB-9DCBB57636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393" y="5400266"/>
            <a:ext cx="740244" cy="911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icrosoft Certified: Azure Database Administrator Associate">
            <a:extLst>
              <a:ext uri="{FF2B5EF4-FFF2-40B4-BE49-F238E27FC236}">
                <a16:creationId xmlns:a16="http://schemas.microsoft.com/office/drawing/2014/main" id="{B152B01E-F55F-EBA3-1674-EBC5878B5B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5900" y="5432341"/>
            <a:ext cx="911764" cy="92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Microsoft Certified: Azure Data Engineer Associate">
            <a:extLst>
              <a:ext uri="{FF2B5EF4-FFF2-40B4-BE49-F238E27FC236}">
                <a16:creationId xmlns:a16="http://schemas.microsoft.com/office/drawing/2014/main" id="{5999A0BB-A5CE-BC3E-091C-E5A41880D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3059" y="4376212"/>
            <a:ext cx="884682" cy="884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19A33107-C9A0-DB83-7B1A-B1C79BB491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7193" y="4337959"/>
            <a:ext cx="967853" cy="978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ounded Rectangle 12">
            <a:extLst>
              <a:ext uri="{FF2B5EF4-FFF2-40B4-BE49-F238E27FC236}">
                <a16:creationId xmlns:a16="http://schemas.microsoft.com/office/drawing/2014/main" id="{CFFD22EC-61F9-E295-766E-BA15E54EF59C}"/>
              </a:ext>
            </a:extLst>
          </p:cNvPr>
          <p:cNvSpPr/>
          <p:nvPr/>
        </p:nvSpPr>
        <p:spPr>
          <a:xfrm>
            <a:off x="262393" y="4305884"/>
            <a:ext cx="1026787" cy="978489"/>
          </a:xfrm>
          <a:prstGeom prst="roundRect">
            <a:avLst>
              <a:gd name="adj" fmla="val 0"/>
            </a:avLst>
          </a:prstGeom>
          <a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25">
              <a:defRPr/>
            </a:pPr>
            <a:endParaRPr lang="en-US" sz="180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F98DCDCA-62CB-42D2-E30E-4DB1CBAD5CBA}"/>
              </a:ext>
            </a:extLst>
          </p:cNvPr>
          <p:cNvSpPr txBox="1">
            <a:spLocks/>
          </p:cNvSpPr>
          <p:nvPr/>
        </p:nvSpPr>
        <p:spPr>
          <a:xfrm>
            <a:off x="3391553" y="458912"/>
            <a:ext cx="5408893" cy="90410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Oswald" pitchFamily="2" charset="-18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Tomasz Waloszek</a:t>
            </a:r>
          </a:p>
        </p:txBody>
      </p:sp>
    </p:spTree>
    <p:extLst>
      <p:ext uri="{BB962C8B-B14F-4D97-AF65-F5344CB8AC3E}">
        <p14:creationId xmlns:p14="http://schemas.microsoft.com/office/powerpoint/2010/main" val="25370286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964E3-DDF0-D207-5B07-176E3FA2A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16767"/>
            <a:ext cx="10515600" cy="669198"/>
          </a:xfrm>
        </p:spPr>
        <p:txBody>
          <a:bodyPr>
            <a:normAutofit fontScale="90000"/>
          </a:bodyPr>
          <a:lstStyle/>
          <a:p>
            <a:r>
              <a:rPr lang="en-US" b="1" dirty="0" err="1"/>
              <a:t>Dlaczego</a:t>
            </a:r>
            <a:r>
              <a:rPr lang="en-US" b="1" dirty="0"/>
              <a:t> </a:t>
            </a:r>
            <a:r>
              <a:rPr lang="en-US" b="1" dirty="0" err="1"/>
              <a:t>optymalizacja</a:t>
            </a:r>
            <a:r>
              <a:rPr lang="en-US" b="1" dirty="0"/>
              <a:t> jest </a:t>
            </a:r>
            <a:r>
              <a:rPr lang="en-US" b="1" dirty="0" err="1"/>
              <a:t>ważna</a:t>
            </a:r>
            <a:r>
              <a:rPr lang="en-US" b="1" dirty="0"/>
              <a:t>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AB4AB-AF8D-7739-ED46-6EB8E329A1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pl-PL" dirty="0"/>
              <a:t>Praca na milionach rekordów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dirty="0" err="1"/>
              <a:t>Pipeline’y</a:t>
            </a:r>
            <a:r>
              <a:rPr lang="pl-PL" dirty="0"/>
              <a:t> ETL/Data Science się zacinają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dirty="0"/>
              <a:t>Nieczytelne, powolne zapytania zabijają produktywność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dirty="0"/>
              <a:t>Niska wydajność = koszt + frustracja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4628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3A238-238C-9586-3EBE-D8BDFD357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7050" y="346438"/>
            <a:ext cx="10515600" cy="669198"/>
          </a:xfrm>
        </p:spPr>
        <p:txBody>
          <a:bodyPr>
            <a:normAutofit fontScale="90000"/>
          </a:bodyPr>
          <a:lstStyle/>
          <a:p>
            <a:r>
              <a:rPr lang="pl-PL" b="1" dirty="0"/>
              <a:t>Skąd pobieramy dane do ML?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5C1F0A-ADA4-6032-8E0C-58621364AB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2525"/>
            <a:ext cx="10515600" cy="5024438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SQL Database</a:t>
            </a:r>
            <a:r>
              <a:rPr lang="en-US" dirty="0"/>
              <a:t> – </a:t>
            </a:r>
            <a:r>
              <a:rPr lang="en-US" dirty="0" err="1"/>
              <a:t>klasyczne</a:t>
            </a:r>
            <a:r>
              <a:rPr lang="en-US" dirty="0"/>
              <a:t> </a:t>
            </a:r>
            <a:r>
              <a:rPr lang="en-US" dirty="0" err="1"/>
              <a:t>relacyjne</a:t>
            </a:r>
            <a:r>
              <a:rPr lang="en-US" dirty="0"/>
              <a:t> </a:t>
            </a:r>
            <a:r>
              <a:rPr lang="en-US" dirty="0" err="1"/>
              <a:t>źródła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Dane </a:t>
            </a:r>
            <a:r>
              <a:rPr lang="en-US" dirty="0" err="1"/>
              <a:t>surowe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przekształcone</a:t>
            </a:r>
            <a:r>
              <a:rPr lang="en-US" dirty="0"/>
              <a:t>, np. z ERP, CRM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Zasilają</a:t>
            </a:r>
            <a:r>
              <a:rPr lang="en-US" dirty="0"/>
              <a:t> </a:t>
            </a:r>
            <a:r>
              <a:rPr lang="en-US" dirty="0" err="1"/>
              <a:t>notebooki</a:t>
            </a:r>
            <a:r>
              <a:rPr lang="en-US" dirty="0"/>
              <a:t>, </a:t>
            </a:r>
            <a:r>
              <a:rPr lang="en-US" dirty="0" err="1"/>
              <a:t>pipeline’y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modele</a:t>
            </a:r>
            <a:r>
              <a:rPr lang="en-US" dirty="0"/>
              <a:t> ML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Dostęp</a:t>
            </a:r>
            <a:r>
              <a:rPr lang="en-US" dirty="0"/>
              <a:t> </a:t>
            </a:r>
            <a:r>
              <a:rPr lang="en-US" dirty="0" err="1"/>
              <a:t>przez</a:t>
            </a:r>
            <a:r>
              <a:rPr lang="en-US" dirty="0"/>
              <a:t> </a:t>
            </a:r>
            <a:r>
              <a:rPr lang="en-US" dirty="0" err="1"/>
              <a:t>zapytania</a:t>
            </a:r>
            <a:r>
              <a:rPr lang="en-US" dirty="0"/>
              <a:t> SQL (</a:t>
            </a:r>
            <a:r>
              <a:rPr lang="en-US" dirty="0" err="1"/>
              <a:t>czasem</a:t>
            </a:r>
            <a:r>
              <a:rPr lang="en-US" dirty="0"/>
              <a:t> </a:t>
            </a:r>
            <a:r>
              <a:rPr lang="en-US" dirty="0" err="1"/>
              <a:t>przez</a:t>
            </a:r>
            <a:r>
              <a:rPr lang="en-US" dirty="0"/>
              <a:t> </a:t>
            </a:r>
            <a:r>
              <a:rPr lang="en-US" dirty="0" err="1"/>
              <a:t>widoki</a:t>
            </a:r>
            <a:r>
              <a:rPr lang="en-US" dirty="0"/>
              <a:t> </a:t>
            </a:r>
            <a:r>
              <a:rPr lang="en-US" dirty="0" err="1"/>
              <a:t>lub</a:t>
            </a:r>
            <a:r>
              <a:rPr lang="en-US" dirty="0"/>
              <a:t> </a:t>
            </a:r>
            <a:r>
              <a:rPr lang="en-US" dirty="0" err="1"/>
              <a:t>procedury</a:t>
            </a:r>
            <a:r>
              <a:rPr lang="en-US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Data Lakehouse (np. Synapse, Delta Lake, Snowflake)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Duże</a:t>
            </a:r>
            <a:r>
              <a:rPr lang="en-US" dirty="0"/>
              <a:t> </a:t>
            </a:r>
            <a:r>
              <a:rPr lang="en-US" dirty="0" err="1"/>
              <a:t>zbiory</a:t>
            </a:r>
            <a:r>
              <a:rPr lang="en-US" dirty="0"/>
              <a:t> </a:t>
            </a:r>
            <a:r>
              <a:rPr lang="en-US" dirty="0" err="1"/>
              <a:t>danych</a:t>
            </a:r>
            <a:r>
              <a:rPr lang="en-US" dirty="0"/>
              <a:t> </a:t>
            </a:r>
            <a:r>
              <a:rPr lang="en-US" dirty="0" err="1"/>
              <a:t>półstrukturalnych</a:t>
            </a:r>
            <a:r>
              <a:rPr lang="en-US" dirty="0"/>
              <a:t> </a:t>
            </a:r>
            <a:r>
              <a:rPr lang="en-US" dirty="0" err="1"/>
              <a:t>lub</a:t>
            </a:r>
            <a:r>
              <a:rPr lang="en-US" dirty="0"/>
              <a:t> </a:t>
            </a:r>
            <a:r>
              <a:rPr lang="en-US" dirty="0" err="1"/>
              <a:t>historycznych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Dane </a:t>
            </a:r>
            <a:r>
              <a:rPr lang="en-US" dirty="0" err="1"/>
              <a:t>często</a:t>
            </a:r>
            <a:r>
              <a:rPr lang="en-US" dirty="0"/>
              <a:t> </a:t>
            </a:r>
            <a:r>
              <a:rPr lang="en-US" dirty="0" err="1"/>
              <a:t>przechowywane</a:t>
            </a:r>
            <a:r>
              <a:rPr lang="en-US" dirty="0"/>
              <a:t> w </a:t>
            </a:r>
            <a:r>
              <a:rPr lang="en-US" dirty="0" err="1"/>
              <a:t>formatach</a:t>
            </a:r>
            <a:r>
              <a:rPr lang="en-US" dirty="0"/>
              <a:t> Parquet/ORC </a:t>
            </a:r>
            <a:r>
              <a:rPr lang="en-US" dirty="0" err="1"/>
              <a:t>na</a:t>
            </a:r>
            <a:r>
              <a:rPr lang="en-US" dirty="0"/>
              <a:t> blob storage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Dostęp</a:t>
            </a:r>
            <a:r>
              <a:rPr lang="en-US" dirty="0"/>
              <a:t> </a:t>
            </a:r>
            <a:r>
              <a:rPr lang="en-US" dirty="0" err="1"/>
              <a:t>przez</a:t>
            </a:r>
            <a:r>
              <a:rPr lang="en-US" dirty="0"/>
              <a:t> </a:t>
            </a:r>
            <a:r>
              <a:rPr lang="en-US" dirty="0" err="1"/>
              <a:t>warstwę</a:t>
            </a:r>
            <a:r>
              <a:rPr lang="en-US" dirty="0"/>
              <a:t> SQL (np. </a:t>
            </a:r>
            <a:r>
              <a:rPr lang="en-US" dirty="0" err="1"/>
              <a:t>zdefiniowane</a:t>
            </a:r>
            <a:r>
              <a:rPr lang="en-US" dirty="0"/>
              <a:t> </a:t>
            </a:r>
            <a:r>
              <a:rPr lang="en-US" dirty="0" err="1"/>
              <a:t>tabele</a:t>
            </a:r>
            <a:r>
              <a:rPr lang="en-US" dirty="0"/>
              <a:t> </a:t>
            </a:r>
            <a:r>
              <a:rPr lang="en-US" dirty="0" err="1"/>
              <a:t>zewnętrzne</a:t>
            </a:r>
            <a:r>
              <a:rPr lang="en-US" dirty="0"/>
              <a:t> </a:t>
            </a:r>
            <a:r>
              <a:rPr lang="en-US" dirty="0" err="1"/>
              <a:t>lub</a:t>
            </a:r>
            <a:r>
              <a:rPr lang="en-US" dirty="0"/>
              <a:t> Spark SQL)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7204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D3E80-39A4-C403-3B0B-961129C46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0900" y="397937"/>
            <a:ext cx="10515600" cy="669198"/>
          </a:xfrm>
        </p:spPr>
        <p:txBody>
          <a:bodyPr>
            <a:normAutofit fontScale="90000"/>
          </a:bodyPr>
          <a:lstStyle/>
          <a:p>
            <a:r>
              <a:rPr lang="en-US" b="1" dirty="0" err="1"/>
              <a:t>Diagnostyka</a:t>
            </a:r>
            <a:r>
              <a:rPr lang="en-US" b="1" dirty="0"/>
              <a:t> </a:t>
            </a:r>
            <a:r>
              <a:rPr lang="en-US" b="1" dirty="0" err="1"/>
              <a:t>wydajności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FBBDB-1544-70D7-1DDA-74DC8726E4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9225"/>
            <a:ext cx="10515600" cy="4757738"/>
          </a:xfrm>
        </p:spPr>
        <p:txBody>
          <a:bodyPr/>
          <a:lstStyle/>
          <a:p>
            <a:r>
              <a:rPr lang="en-US" dirty="0"/>
              <a:t>SET STATISTICS IO ON;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SET STATISTICS TIME ON;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EXECUTION PLAN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EADB822-9387-02D4-E8C8-C5306631CA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6553" y="1912744"/>
            <a:ext cx="7868598" cy="66919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0E6A05A-3F02-CA07-44C4-167D7D19DC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2513" y="2977865"/>
            <a:ext cx="4572638" cy="155279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0C1E570-98D6-A132-D8EC-E9897617EF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200" y="5242860"/>
            <a:ext cx="6826951" cy="1330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3130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19434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C16616EC-88FD-C630-7008-A1D003296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121300"/>
            <a:ext cx="9144000" cy="615399"/>
          </a:xfrm>
        </p:spPr>
        <p:txBody>
          <a:bodyPr/>
          <a:lstStyle/>
          <a:p>
            <a:r>
              <a:rPr lang="en-US" dirty="0" err="1"/>
              <a:t>Dziękuję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55738495"/>
      </p:ext>
    </p:extLst>
  </p:cSld>
  <p:clrMapOvr>
    <a:masterClrMapping/>
  </p:clrMapOvr>
</p:sld>
</file>

<file path=ppt/theme/theme1.xml><?xml version="1.0" encoding="utf-8"?>
<a:theme xmlns:a="http://schemas.openxmlformats.org/drawingml/2006/main" name="Data Community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ataCommunity_16x9.potx" id="{D573177E-A89D-4FAB-96AA-0533CCE05D9A}" vid="{3DE8DBAB-EC63-4F72-BC18-354EFB3F551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Optymalizacja zapytań SQL w projektach Data Science</Template>
  <TotalTime>503</TotalTime>
  <Words>224</Words>
  <Application>Microsoft Office PowerPoint</Application>
  <PresentationFormat>Widescreen</PresentationFormat>
  <Paragraphs>52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Aptos</vt:lpstr>
      <vt:lpstr>Arial</vt:lpstr>
      <vt:lpstr>Calibri</vt:lpstr>
      <vt:lpstr>Graphik Meetup</vt:lpstr>
      <vt:lpstr>Open Sans Extrabold</vt:lpstr>
      <vt:lpstr>Open Sans Extrabold</vt:lpstr>
      <vt:lpstr>Oswald</vt:lpstr>
      <vt:lpstr>Data Community</vt:lpstr>
      <vt:lpstr>Optymalizacja zapytań SQL w projektach Data Science</vt:lpstr>
      <vt:lpstr>Agenda</vt:lpstr>
      <vt:lpstr>PowerPoint Presentation</vt:lpstr>
      <vt:lpstr>Dlaczego optymalizacja jest ważna?</vt:lpstr>
      <vt:lpstr>Skąd pobieramy dane do ML?</vt:lpstr>
      <vt:lpstr>Diagnostyka wydajności</vt:lpstr>
      <vt:lpstr>PowerPoint Presentation</vt:lpstr>
      <vt:lpstr>PowerPoint Presentation</vt:lpstr>
    </vt:vector>
  </TitlesOfParts>
  <Company>SoftwareONE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Waloszek, Tomasz</dc:creator>
  <cp:lastModifiedBy>Waloszek, Tomasz</cp:lastModifiedBy>
  <cp:revision>2</cp:revision>
  <dcterms:created xsi:type="dcterms:W3CDTF">2025-05-05T11:21:24Z</dcterms:created>
  <dcterms:modified xsi:type="dcterms:W3CDTF">2025-05-07T08:58:13Z</dcterms:modified>
  <cp:category>Private HR</cp:category>
</cp:coreProperties>
</file>

<file path=docProps/custom.xml><?xml version="1.0" encoding="utf-8"?>
<op:Properties xmlns:vt="http://schemas.openxmlformats.org/officeDocument/2006/docPropsVTypes" xmlns:op="http://schemas.openxmlformats.org/officeDocument/2006/custom-properties">
  <op:property fmtid="{D5CDD505-2E9C-101B-9397-08002B2CF9AE}" pid="2" name="MSIP_Label_0163cfca-c59a-43bb-94f3-904df662c9a2_Enabled">
    <vt:lpwstr>true</vt:lpwstr>
  </op:property>
  <op:property fmtid="{D5CDD505-2E9C-101B-9397-08002B2CF9AE}" pid="3" name="MSIP_Label_0163cfca-c59a-43bb-94f3-904df662c9a2_SetDate">
    <vt:lpwstr>2025-05-07T09:20:50Z</vt:lpwstr>
  </op:property>
  <op:property fmtid="{D5CDD505-2E9C-101B-9397-08002B2CF9AE}" pid="4" name="MSIP_Label_0163cfca-c59a-43bb-94f3-904df662c9a2_Method">
    <vt:lpwstr>Standard</vt:lpwstr>
  </op:property>
  <op:property fmtid="{D5CDD505-2E9C-101B-9397-08002B2CF9AE}" pid="5" name="MSIP_Label_0163cfca-c59a-43bb-94f3-904df662c9a2_Name">
    <vt:lpwstr>Private_HR</vt:lpwstr>
  </op:property>
  <op:property fmtid="{D5CDD505-2E9C-101B-9397-08002B2CF9AE}" pid="6" name="MSIP_Label_0163cfca-c59a-43bb-94f3-904df662c9a2_SiteId">
    <vt:lpwstr>1dc9b339-fadb-432e-86df-423c38a0fcb8</vt:lpwstr>
  </op:property>
  <op:property fmtid="{D5CDD505-2E9C-101B-9397-08002B2CF9AE}" pid="7" name="MSIP_Label_0163cfca-c59a-43bb-94f3-904df662c9a2_ActionId">
    <vt:lpwstr>ec594ff5-beda-4735-8605-bf2b097f712d</vt:lpwstr>
  </op:property>
  <op:property fmtid="{D5CDD505-2E9C-101B-9397-08002B2CF9AE}" pid="8" name="MSIP_Label_0163cfca-c59a-43bb-94f3-904df662c9a2_GeneratedBy">
    <vt:lpwstr>Cognni</vt:lpwstr>
  </op:property>
  <op:property fmtid="{D5CDD505-2E9C-101B-9397-08002B2CF9AE}" pid="9" name="MSIP_Label_0163cfca-c59a-43bb-94f3-904df662c9a2_Category">
    <vt:lpwstr>Private HR</vt:lpwstr>
  </op:property>
  <op:property fmtid="{D5CDD505-2E9C-101B-9397-08002B2CF9AE}" pid="10" name="MSIP_Label_0163cfca-c59a-43bb-94f3-904df662c9a2_ContentBits">
    <vt:lpwstr>0</vt:lpwstr>
  </op:property>
  <op:property fmtid="{D5CDD505-2E9C-101B-9397-08002B2CF9AE}" pid="11" name="CognniClassificationMarked">
    <vt:lpwstr>1</vt:lpwstr>
  </op:property>
</op:Properties>
</file>